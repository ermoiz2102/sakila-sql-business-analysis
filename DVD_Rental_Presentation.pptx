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&quot;$&quot;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May -2005</c:v>
                </c:pt>
                <c:pt idx="1">
                  <c:v>Jun-2005</c:v>
                </c:pt>
                <c:pt idx="2">
                  <c:v>July-2005</c:v>
                </c:pt>
                <c:pt idx="3">
                  <c:v>Aug-2005</c:v>
                </c:pt>
                <c:pt idx="4">
                  <c:v>Feb-2006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4823.4399999999996</c:v>
                </c:pt>
                <c:pt idx="1">
                  <c:v>9629.89</c:v>
                </c:pt>
                <c:pt idx="2">
                  <c:v>28638.91</c:v>
                </c:pt>
                <c:pt idx="3">
                  <c:v>24070.14</c:v>
                </c:pt>
                <c:pt idx="4">
                  <c:v>514.17999999999995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98-4A1B-8423-18D3BD5BF3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19312704"/>
        <c:axId val="1119317504"/>
      </c:barChart>
      <c:catAx>
        <c:axId val="1119312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317504"/>
        <c:crosses val="autoZero"/>
        <c:auto val="1"/>
        <c:lblAlgn val="ctr"/>
        <c:lblOffset val="100"/>
        <c:noMultiLvlLbl val="0"/>
      </c:catAx>
      <c:valAx>
        <c:axId val="1119317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312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385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ACE9A-C184-C4A7-48F0-214D3A4B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5CB83-4793-DB84-295A-FCAD46D9C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03489-2C85-3D5B-E723-F911ED54E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4F74B-7A80-86A5-4E62-C4CF908713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94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22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457200"/>
            <a:ext cx="914400" cy="9144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55280" y="3474720"/>
            <a:ext cx="1371600" cy="1371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 RENTAL BUSINESS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01168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Sakila Database  |  MDD Approach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280160" cy="128016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$67,406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3291840"/>
            <a:ext cx="1280160" cy="128016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596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6596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291840"/>
            <a:ext cx="1280160" cy="128016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291840"/>
            <a:ext cx="1280160" cy="128016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8348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DVD rental business via SQL + MDD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73552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1051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4173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driving the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9632" y="1051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1051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Overview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14173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Sakila DB structure &amp; 16 core tables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432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2461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and data flows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7432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73552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4904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2461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key queries with insights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743200" cy="32004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9632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2880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24612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actionable strategies for growth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Sakila Database represents a DVD rental business with two stores, multiple customers, films, and transactions. The goal is to derive business insights using SQL queries and a Metric Driven Design (MDD) approach.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and monthly revenue patterns across stores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4871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customers and churn risk segments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most rented and highest revenue films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493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Efficiency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858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store-level performance metrics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Overview — Sakila DB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9875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address, active status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81912"/>
            <a:ext cx="4206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550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6550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rental &amp; payment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9424"/>
            <a:ext cx="4206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32257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rental store locations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16936"/>
            <a:ext cx="4206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900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9900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 rate, duration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84448"/>
            <a:ext cx="4206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83080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genres (Action, Comedy, etc.)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251960"/>
            <a:ext cx="4206240" cy="54864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325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Category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3251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Film-to-genre mapping (M:M)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914400"/>
            <a:ext cx="4206240" cy="548640"/>
          </a:xfrm>
          <a:prstGeom prst="rect">
            <a:avLst/>
          </a:prstGeom>
          <a:solidFill>
            <a:srgbClr val="EB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987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/ Film Actor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9875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names &amp; film links (M:M)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581912"/>
            <a:ext cx="4206240" cy="548640"/>
          </a:xfrm>
          <a:prstGeom prst="rect">
            <a:avLst/>
          </a:prstGeom>
          <a:solidFill>
            <a:srgbClr val="EB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6550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16550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copies per store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249424"/>
            <a:ext cx="4206240" cy="548640"/>
          </a:xfrm>
          <a:prstGeom prst="rect">
            <a:avLst/>
          </a:prstGeom>
          <a:solidFill>
            <a:srgbClr val="EB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32257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transaction records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16936"/>
            <a:ext cx="4206240" cy="548640"/>
          </a:xfrm>
          <a:prstGeom prst="rect">
            <a:avLst/>
          </a:prstGeom>
          <a:solidFill>
            <a:srgbClr val="EB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29900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299008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customer, staff, date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584448"/>
            <a:ext cx="4206240" cy="548640"/>
          </a:xfrm>
          <a:prstGeom prst="rect">
            <a:avLst/>
          </a:prstGeom>
          <a:solidFill>
            <a:srgbClr val="EB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6576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Address/City/Country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hierarchy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4251960"/>
            <a:ext cx="4206240" cy="548640"/>
          </a:xfrm>
          <a:prstGeom prst="rect">
            <a:avLst/>
          </a:prstGeom>
          <a:solidFill>
            <a:srgbClr val="EBF5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4325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Film Text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43251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language &amp; search fields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45920" cy="5486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07899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0" y="1078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28016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0" y="107899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1078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28016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669280" y="107899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10789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1645920" cy="54864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203911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94560" y="2039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36576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31920" y="203911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0" y="2039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2240280"/>
            <a:ext cx="36576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0" y="203911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0" y="2039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1645920" cy="548640"/>
          </a:xfrm>
          <a:prstGeom prst="rect">
            <a:avLst/>
          </a:prstGeom>
          <a:solidFill>
            <a:srgbClr val="A8DAD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560" y="299923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94560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3200400"/>
            <a:ext cx="365760" cy="0"/>
          </a:xfrm>
          <a:prstGeom prst="line">
            <a:avLst/>
          </a:prstGeom>
          <a:noFill/>
          <a:ln w="254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931920" y="299923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0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1645920" cy="548640"/>
          </a:xfrm>
          <a:prstGeom prst="rect">
            <a:avLst/>
          </a:prstGeom>
          <a:solidFill>
            <a:srgbClr val="90E0E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Analysis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94560" y="395935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194560" y="39593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4160520"/>
            <a:ext cx="36576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931920" y="395935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31920" y="39593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0" y="4160520"/>
            <a:ext cx="36576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69280" y="395935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0" y="39593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4160520"/>
            <a:ext cx="365760" cy="0"/>
          </a:xfrm>
          <a:prstGeom prst="line">
            <a:avLst/>
          </a:prstGeom>
          <a:noFill/>
          <a:ln w="25400">
            <a:solidFill>
              <a:srgbClr val="90E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406640" y="3959352"/>
            <a:ext cx="137160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06640" y="39593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2011680"/>
          </a:xfrm>
          <a:prstGeom prst="rect">
            <a:avLst/>
          </a:prstGeom>
          <a:solidFill>
            <a:srgbClr val="0D1F3C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$67,406.56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both store locations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8404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444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~$33,726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384048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039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~$33,680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73152" cy="13716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Revenue Trend Across Store Locations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stores contribute nearly equally — balanced performance across locations.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959B9-314C-1301-8137-64F90411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01CF79-6B36-619D-AA3F-03E8040BF7D9}"/>
              </a:ext>
            </a:extLst>
          </p:cNvPr>
          <p:cNvSpPr/>
          <p:nvPr/>
        </p:nvSpPr>
        <p:spPr>
          <a:xfrm>
            <a:off x="0" y="0"/>
            <a:ext cx="8923506" cy="54864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22E3F8-D271-B511-77CE-931684795749}"/>
              </a:ext>
            </a:extLst>
          </p:cNvPr>
          <p:cNvSpPr/>
          <p:nvPr/>
        </p:nvSpPr>
        <p:spPr>
          <a:xfrm>
            <a:off x="365760" y="0"/>
            <a:ext cx="8229600" cy="475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2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CCB2900-2152-0F0F-1849-7059155ECAA6}"/>
              </a:ext>
            </a:extLst>
          </p:cNvPr>
          <p:cNvSpPr/>
          <p:nvPr/>
        </p:nvSpPr>
        <p:spPr>
          <a:xfrm>
            <a:off x="457200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F2B1E9B-7F1A-EE35-DE9A-29B867A5CB5E}"/>
              </a:ext>
            </a:extLst>
          </p:cNvPr>
          <p:cNvSpPr/>
          <p:nvPr/>
        </p:nvSpPr>
        <p:spPr>
          <a:xfrm>
            <a:off x="294424" y="3749040"/>
            <a:ext cx="8255216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0F70A70-40F7-F3B1-D56C-FA6801AA16A5}"/>
              </a:ext>
            </a:extLst>
          </p:cNvPr>
          <p:cNvSpPr/>
          <p:nvPr/>
        </p:nvSpPr>
        <p:spPr>
          <a:xfrm>
            <a:off x="335929" y="3739312"/>
            <a:ext cx="124514" cy="115272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046282B-A770-9E8A-E83B-7E2F2726B69B}"/>
              </a:ext>
            </a:extLst>
          </p:cNvPr>
          <p:cNvSpPr/>
          <p:nvPr/>
        </p:nvSpPr>
        <p:spPr>
          <a:xfrm>
            <a:off x="594360" y="3739312"/>
            <a:ext cx="7955280" cy="566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3B6D4C-94B5-A0F7-D2AD-8DC8D53AE6C2}"/>
              </a:ext>
            </a:extLst>
          </p:cNvPr>
          <p:cNvSpPr/>
          <p:nvPr/>
        </p:nvSpPr>
        <p:spPr>
          <a:xfrm>
            <a:off x="594360" y="4206240"/>
            <a:ext cx="7955280" cy="566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peaks during July and August, indicating higher seasonal business activity. Strategic planning around these peak months can maximize profitability.</a:t>
            </a:r>
            <a:endParaRPr lang="en-US" sz="1200" dirty="0"/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CBAF6A1D-3580-84A2-3B7D-95E073D38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656190"/>
              </p:ext>
            </p:extLst>
          </p:nvPr>
        </p:nvGraphicFramePr>
        <p:xfrm>
          <a:off x="460443" y="799451"/>
          <a:ext cx="5603132" cy="2679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5">
            <a:extLst>
              <a:ext uri="{FF2B5EF4-FFF2-40B4-BE49-F238E27FC236}">
                <a16:creationId xmlns:a16="http://schemas.microsoft.com/office/drawing/2014/main" id="{5B540F7F-1D66-930B-F5F0-D0E32DF2F73E}"/>
              </a:ext>
            </a:extLst>
          </p:cNvPr>
          <p:cNvSpPr/>
          <p:nvPr/>
        </p:nvSpPr>
        <p:spPr>
          <a:xfrm>
            <a:off x="6400800" y="1750817"/>
            <a:ext cx="2282757" cy="946339"/>
          </a:xfrm>
          <a:prstGeom prst="rect">
            <a:avLst/>
          </a:prstGeom>
          <a:solidFill>
            <a:srgbClr val="0D1F3C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</a:p>
          <a:p>
            <a:r>
              <a:rPr lang="en-US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July/Aug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Months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79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Performance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Rented Movies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44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rental count)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114800" cy="27432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004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BROTHERHOOD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29384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r>
              <a:rPr lang="en-US" dirty="0"/>
              <a:t>                                                                          </a:t>
            </a:r>
          </a:p>
        </p:txBody>
      </p:sp>
      <p:sp>
        <p:nvSpPr>
          <p:cNvPr id="11" name="Text 9"/>
          <p:cNvSpPr/>
          <p:nvPr/>
        </p:nvSpPr>
        <p:spPr>
          <a:xfrm>
            <a:off x="32004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1929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ROCKETEER MOTHER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14800" cy="27432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RIDGEMONT SUBMARINE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SCALAWAG DUCK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114800" cy="27432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JUGGLER HARDLY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136392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TEMPLE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438144"/>
            <a:ext cx="4114800" cy="27432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GRIT CLOCKWORK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39896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HOBBIT ALIEN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41648"/>
            <a:ext cx="4114800" cy="274320"/>
          </a:xfrm>
          <a:prstGeom prst="rect">
            <a:avLst/>
          </a:prstGeom>
          <a:solidFill>
            <a:srgbClr val="EBF3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TIMBERLAND SKY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3434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ZORRO ARK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Generating Movies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1344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total payment amount)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627632"/>
            <a:ext cx="4114800" cy="274320"/>
          </a:xfrm>
          <a:prstGeom prst="rect">
            <a:avLst/>
          </a:prstGeom>
          <a:solidFill>
            <a:srgbClr val="E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00600" y="1627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0235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 VOYAGE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1929384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0060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02352" y="1929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WIFE TURN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231136"/>
            <a:ext cx="4114800" cy="274320"/>
          </a:xfrm>
          <a:prstGeom prst="rect">
            <a:avLst/>
          </a:prstGeom>
          <a:solidFill>
            <a:srgbClr val="E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02352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CITATION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532888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0060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02352" y="2532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INNOCENT USUAL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2834640"/>
            <a:ext cx="4114800" cy="274320"/>
          </a:xfrm>
          <a:prstGeom prst="rect">
            <a:avLst/>
          </a:prstGeom>
          <a:solidFill>
            <a:srgbClr val="E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0060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02352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TITANS JERK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3136392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006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02352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 IDAHO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3438144"/>
            <a:ext cx="4114800" cy="274320"/>
          </a:xfrm>
          <a:prstGeom prst="rect">
            <a:avLst/>
          </a:prstGeom>
          <a:solidFill>
            <a:srgbClr val="E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0060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102352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BIRDCAGE CASPER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3739896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00600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102352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DOGMA FAMILY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0" y="4041648"/>
            <a:ext cx="4114800" cy="274320"/>
          </a:xfrm>
          <a:prstGeom prst="rect">
            <a:avLst/>
          </a:prstGeom>
          <a:solidFill>
            <a:srgbClr val="E0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0060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02352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HAPPINESS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54880" y="4343400"/>
            <a:ext cx="4114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0060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102352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SCALAWAG DUCK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1148A8-DF80-4362-220A-4DB1818CB45D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5510F6-5A0F-999C-94DC-0F6E35D31052}"/>
              </a:ext>
            </a:extLst>
          </p:cNvPr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Rental Insights</a:t>
            </a:r>
            <a:endParaRPr 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8AF514-C3FE-4A48-B19B-9FC85B945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63830"/>
              </p:ext>
            </p:extLst>
          </p:nvPr>
        </p:nvGraphicFramePr>
        <p:xfrm>
          <a:off x="0" y="731520"/>
          <a:ext cx="377433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492">
                  <a:extLst>
                    <a:ext uri="{9D8B030D-6E8A-4147-A177-3AD203B41FA5}">
                      <a16:colId xmlns:a16="http://schemas.microsoft.com/office/drawing/2014/main" val="1263490324"/>
                    </a:ext>
                  </a:extLst>
                </a:gridCol>
                <a:gridCol w="907224">
                  <a:extLst>
                    <a:ext uri="{9D8B030D-6E8A-4147-A177-3AD203B41FA5}">
                      <a16:colId xmlns:a16="http://schemas.microsoft.com/office/drawing/2014/main" val="2222383340"/>
                    </a:ext>
                  </a:extLst>
                </a:gridCol>
                <a:gridCol w="1149615">
                  <a:extLst>
                    <a:ext uri="{9D8B030D-6E8A-4147-A177-3AD203B41FA5}">
                      <a16:colId xmlns:a16="http://schemas.microsoft.com/office/drawing/2014/main" val="1576260059"/>
                    </a:ext>
                  </a:extLst>
                </a:gridCol>
              </a:tblGrid>
              <a:tr h="316906">
                <a:tc>
                  <a:txBody>
                    <a:bodyPr/>
                    <a:lstStyle/>
                    <a:p>
                      <a:r>
                        <a:rPr lang="en-US" dirty="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77587"/>
                  </a:ext>
                </a:extLst>
              </a:tr>
              <a:tr h="316906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Eleanor Hunt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$216.54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935390"/>
                  </a:ext>
                </a:extLst>
              </a:tr>
              <a:tr h="316906">
                <a:tc>
                  <a:txBody>
                    <a:bodyPr/>
                    <a:lstStyle/>
                    <a:p>
                      <a:r>
                        <a:rPr lang="en-US" dirty="0"/>
                        <a:t>Karl Seal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$221.55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5412"/>
                  </a:ext>
                </a:extLst>
              </a:tr>
              <a:tr h="316906">
                <a:tc>
                  <a:txBody>
                    <a:bodyPr/>
                    <a:lstStyle/>
                    <a:p>
                      <a:r>
                        <a:rPr lang="en-US" dirty="0"/>
                        <a:t>Clara Shaw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$195.58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075785"/>
                  </a:ext>
                </a:extLst>
              </a:tr>
              <a:tr h="316906">
                <a:tc>
                  <a:txBody>
                    <a:bodyPr/>
                    <a:lstStyle/>
                    <a:p>
                      <a:r>
                        <a:rPr lang="en-US" dirty="0"/>
                        <a:t>Marcia Dean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$175.58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593040"/>
                  </a:ext>
                </a:extLst>
              </a:tr>
              <a:tr h="316906">
                <a:tc>
                  <a:txBody>
                    <a:bodyPr/>
                    <a:lstStyle/>
                    <a:p>
                      <a:r>
                        <a:rPr lang="en-US" dirty="0"/>
                        <a:t>Tammy  Sanders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$155.59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9660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122049-0714-2C9D-D607-6729A1C4D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091135"/>
              </p:ext>
            </p:extLst>
          </p:nvPr>
        </p:nvGraphicFramePr>
        <p:xfrm>
          <a:off x="5214026" y="731520"/>
          <a:ext cx="377433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492">
                  <a:extLst>
                    <a:ext uri="{9D8B030D-6E8A-4147-A177-3AD203B41FA5}">
                      <a16:colId xmlns:a16="http://schemas.microsoft.com/office/drawing/2014/main" val="1263490324"/>
                    </a:ext>
                  </a:extLst>
                </a:gridCol>
                <a:gridCol w="907224">
                  <a:extLst>
                    <a:ext uri="{9D8B030D-6E8A-4147-A177-3AD203B41FA5}">
                      <a16:colId xmlns:a16="http://schemas.microsoft.com/office/drawing/2014/main" val="2222383340"/>
                    </a:ext>
                  </a:extLst>
                </a:gridCol>
                <a:gridCol w="1149615">
                  <a:extLst>
                    <a:ext uri="{9D8B030D-6E8A-4147-A177-3AD203B41FA5}">
                      <a16:colId xmlns:a16="http://schemas.microsoft.com/office/drawing/2014/main" val="1576260059"/>
                    </a:ext>
                  </a:extLst>
                </a:gridCol>
              </a:tblGrid>
              <a:tr h="356897">
                <a:tc>
                  <a:txBody>
                    <a:bodyPr/>
                    <a:lstStyle/>
                    <a:p>
                      <a:r>
                        <a:rPr lang="en-US" dirty="0"/>
                        <a:t>Customer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77587"/>
                  </a:ext>
                </a:extLst>
              </a:tr>
              <a:tr h="356897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Brian Wyman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$52.88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935390"/>
                  </a:ext>
                </a:extLst>
              </a:tr>
              <a:tr h="356897">
                <a:tc>
                  <a:txBody>
                    <a:bodyPr/>
                    <a:lstStyle/>
                    <a:p>
                      <a:r>
                        <a:rPr lang="en-US" dirty="0"/>
                        <a:t>Katherine Rivera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$58.86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5412"/>
                  </a:ext>
                </a:extLst>
              </a:tr>
              <a:tr h="356897">
                <a:tc>
                  <a:txBody>
                    <a:bodyPr/>
                    <a:lstStyle/>
                    <a:p>
                      <a:r>
                        <a:rPr lang="en-US" dirty="0"/>
                        <a:t>Leona Obrien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$50.86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075785"/>
                  </a:ext>
                </a:extLst>
              </a:tr>
              <a:tr h="356897">
                <a:tc>
                  <a:txBody>
                    <a:bodyPr/>
                    <a:lstStyle/>
                    <a:p>
                      <a:r>
                        <a:rPr lang="en-US" dirty="0"/>
                        <a:t>Tiffany Jordan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$59.86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593040"/>
                  </a:ext>
                </a:extLst>
              </a:tr>
              <a:tr h="356897">
                <a:tc>
                  <a:txBody>
                    <a:bodyPr/>
                    <a:lstStyle/>
                    <a:p>
                      <a:r>
                        <a:rPr lang="en-US" dirty="0"/>
                        <a:t>Anita Morales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$62.85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966045"/>
                  </a:ext>
                </a:extLst>
              </a:tr>
            </a:tbl>
          </a:graphicData>
        </a:graphic>
      </p:graphicFrame>
      <p:sp>
        <p:nvSpPr>
          <p:cNvPr id="11" name="Shape 17">
            <a:extLst>
              <a:ext uri="{FF2B5EF4-FFF2-40B4-BE49-F238E27FC236}">
                <a16:creationId xmlns:a16="http://schemas.microsoft.com/office/drawing/2014/main" id="{412B3BE8-D8A7-784B-6F8F-8143E519B760}"/>
              </a:ext>
            </a:extLst>
          </p:cNvPr>
          <p:cNvSpPr/>
          <p:nvPr/>
        </p:nvSpPr>
        <p:spPr>
          <a:xfrm>
            <a:off x="5570706" y="3317797"/>
            <a:ext cx="2897046" cy="138148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37B3EBAC-085B-B2B3-DC6C-284A4FE18736}"/>
              </a:ext>
            </a:extLst>
          </p:cNvPr>
          <p:cNvSpPr/>
          <p:nvPr/>
        </p:nvSpPr>
        <p:spPr>
          <a:xfrm>
            <a:off x="5682380" y="3511296"/>
            <a:ext cx="2844134" cy="1104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accent1"/>
                </a:solidFill>
              </a:rPr>
              <a:t>The customers with the lowest number of rentals indicate low engagement levels and may require targeted strategies to improve their activity and retention.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DECA59C-AE73-9993-8459-7A49FFD46316}"/>
              </a:ext>
            </a:extLst>
          </p:cNvPr>
          <p:cNvSpPr/>
          <p:nvPr/>
        </p:nvSpPr>
        <p:spPr>
          <a:xfrm>
            <a:off x="369340" y="3323920"/>
            <a:ext cx="2897046" cy="137536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AA2FE96-6041-35ED-5032-3976FBC9EF83}"/>
              </a:ext>
            </a:extLst>
          </p:cNvPr>
          <p:cNvSpPr/>
          <p:nvPr/>
        </p:nvSpPr>
        <p:spPr>
          <a:xfrm>
            <a:off x="390034" y="3011396"/>
            <a:ext cx="515242" cy="32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708A9FB-0511-901A-FE3F-E9713BC78317}"/>
              </a:ext>
            </a:extLst>
          </p:cNvPr>
          <p:cNvSpPr/>
          <p:nvPr/>
        </p:nvSpPr>
        <p:spPr>
          <a:xfrm>
            <a:off x="892954" y="3029683"/>
            <a:ext cx="2318588" cy="28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9A6874-6579-BD41-3C8D-85D1D53941B5}"/>
              </a:ext>
            </a:extLst>
          </p:cNvPr>
          <p:cNvSpPr/>
          <p:nvPr/>
        </p:nvSpPr>
        <p:spPr>
          <a:xfrm>
            <a:off x="408322" y="3505172"/>
            <a:ext cx="2844134" cy="1104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accent1"/>
                </a:solidFill>
              </a:rPr>
              <a:t>The top 5 customers with the highest number of rentals contribute significantly to overall business activity and represent highly engaged and valuable customers.</a:t>
            </a:r>
          </a:p>
        </p:txBody>
      </p:sp>
    </p:spTree>
    <p:extLst>
      <p:ext uri="{BB962C8B-B14F-4D97-AF65-F5344CB8AC3E}">
        <p14:creationId xmlns:p14="http://schemas.microsoft.com/office/powerpoint/2010/main" val="277299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Inventory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 Categories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4341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77341" y="1261872"/>
            <a:ext cx="2720340" cy="2743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$5,314.21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1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77341" y="1856232"/>
            <a:ext cx="2400300" cy="2743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4901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$4,756.98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1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77341" y="2450592"/>
            <a:ext cx="2336292" cy="2743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4901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$4,656.30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1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77341" y="3044952"/>
            <a:ext cx="2272284" cy="274320"/>
          </a:xfrm>
          <a:prstGeom prst="rect">
            <a:avLst/>
          </a:prstGeom>
          <a:solidFill>
            <a:srgbClr val="5E9B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4901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$4,587.39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1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77341" y="3639312"/>
            <a:ext cx="2208276" cy="274320"/>
          </a:xfrm>
          <a:prstGeom prst="rect">
            <a:avLst/>
          </a:prstGeom>
          <a:solidFill>
            <a:srgbClr val="8A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4901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$4,002.48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7211" y="4046220"/>
            <a:ext cx="5029200" cy="1005840"/>
          </a:xfrm>
          <a:prstGeom prst="rect">
            <a:avLst/>
          </a:prstGeom>
          <a:solidFill>
            <a:srgbClr val="FFF3E0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511" y="4046220"/>
            <a:ext cx="73152" cy="10058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7823" y="40462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with No Rentals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823" y="44119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films in inventory have never been rented. These should be discounted, bundled, or removed to optimize inventory utilization.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2560320" cy="1005840"/>
          </a:xfrm>
          <a:prstGeom prst="rect">
            <a:avLst/>
          </a:prstGeom>
          <a:solidFill>
            <a:srgbClr val="0D1F3C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Store Strategies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store-specific promotions &amp; localized marketing to differentiate performance.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9875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005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High-Value Customers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48132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programs, discounts &amp; exclusive offers for high-rental-frequency customers.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9875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1005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Management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48132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more high-performing titles; phase out low performers with discounts.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solidFill>
            <a:srgbClr val="A8DA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9077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Seasonal Trends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40156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campaigns &amp; inventory expansion targeting July–August peak periods.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29077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9476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Non-Performing Movies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40156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Discount, bundle, or replace zero-rental titles to improve efficiency.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743200" cy="457200"/>
          </a:xfrm>
          <a:prstGeom prst="rect">
            <a:avLst/>
          </a:prstGeom>
          <a:solidFill>
            <a:srgbClr val="F4D3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9077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2084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Low-Activity Customers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401568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promotions &amp; special discounts to reduce churn.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these recommendations can enhance revenue generation, improve customer retention, and optimize inventory utilization — leading to overall business growth.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2377440" cy="146304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3774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campaigns &amp; top-film stocking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651760"/>
            <a:ext cx="2377440" cy="146304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3774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 &amp; re-engagement strategies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651760"/>
            <a:ext cx="2377440" cy="146304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23774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ROI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non-performers, focus on demand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DVD Rental Business Analysis Report  |  Sakila Database  |  MDD Approach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On-screen Show (16:9)</PresentationFormat>
  <Paragraphs>241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DVD Rental Business Analysis Report</dc:title>
  <dc:subject>PptxGenJS Presentation</dc:subject>
  <dc:creator>PptxGenJS</dc:creator>
  <cp:lastModifiedBy>Khan, Moiz [C]</cp:lastModifiedBy>
  <cp:revision>2</cp:revision>
  <dcterms:created xsi:type="dcterms:W3CDTF">2026-03-30T17:26:13Z</dcterms:created>
  <dcterms:modified xsi:type="dcterms:W3CDTF">2026-04-01T16:38:55Z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2026-04-01T16:38:53Z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8fe9c5ae-fcb9-4a92-8e58-d30b31a7a183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